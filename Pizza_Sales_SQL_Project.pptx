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59" r:id="rId7"/>
    <p:sldId id="266" r:id="rId8"/>
    <p:sldId id="267" r:id="rId9"/>
    <p:sldId id="268" r:id="rId10"/>
    <p:sldId id="269" r:id="rId11"/>
    <p:sldId id="270" r:id="rId12"/>
    <p:sldId id="271" r:id="rId13"/>
    <p:sldId id="281" r:id="rId14"/>
    <p:sldId id="280" r:id="rId15"/>
    <p:sldId id="272" r:id="rId16"/>
    <p:sldId id="282" r:id="rId17"/>
    <p:sldId id="283" r:id="rId18"/>
    <p:sldId id="273" r:id="rId19"/>
    <p:sldId id="262" r:id="rId20"/>
    <p:sldId id="26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1" autoAdjust="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13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461051" y="599777"/>
            <a:ext cx="723941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E06723"/>
                </a:solidFill>
              </a:defRPr>
            </a:pPr>
            <a:r>
              <a:rPr sz="6000" dirty="0"/>
              <a:t>PIZZA SALES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0442" y="2051744"/>
            <a:ext cx="46606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D2D2D"/>
                </a:solidFill>
              </a:defRPr>
            </a:pPr>
            <a:r>
              <a:rPr sz="3200" b="1" dirty="0"/>
              <a:t>SQL Data Analytics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7181" y="5498300"/>
            <a:ext cx="31871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rPr sz="2400" dirty="0"/>
              <a:t>Prepared by: Anjali Negi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AB25E4-13C8-8159-3D58-26B89B105E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1" t="-2140" r="817" b="2140"/>
          <a:stretch>
            <a:fillRect/>
          </a:stretch>
        </p:blipFill>
        <p:spPr>
          <a:xfrm>
            <a:off x="2069747" y="2559362"/>
            <a:ext cx="8022022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15249"/>
            <a:ext cx="384169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06723"/>
                </a:solidFill>
              </a:defRPr>
            </a:pPr>
            <a:r>
              <a:rPr sz="4000" dirty="0"/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400" dirty="0"/>
              <a:t>This project analyzes pizza sales data using SQL.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400" dirty="0"/>
              <a:t>The objective is to understand sales performance, customer ordering patterns, and popular pizza products.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400" dirty="0"/>
              <a:t>SQL queries are used to retrieve, join, group, filter, and summarize data.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400" dirty="0"/>
              <a:t>The analysis is divided into Basic, Intermediate, and Advanced business questions.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400" dirty="0"/>
              <a:t>The final results can support business decisions related to products, pricing, and sales planning.</a:t>
            </a:r>
          </a:p>
        </p:txBody>
      </p:sp>
      <p:pic>
        <p:nvPicPr>
          <p:cNvPr id="5" name="Picture 4" descr="pizza_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1928" y="4403504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06597"/>
            <a:ext cx="690015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06723"/>
                </a:solidFill>
              </a:defRPr>
            </a:pPr>
            <a:r>
              <a:rPr sz="4000" dirty="0"/>
              <a:t>Tools &amp; Data Analysis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30334"/>
            <a:ext cx="1051560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400" dirty="0"/>
              <a:t>Database: MySQL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400" dirty="0"/>
              <a:t>Core SQL concepts: SELECT, WHERE, JOIN, GROUP BY, ORDER BY, aggregate functions, and window functions.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400" dirty="0"/>
              <a:t>Main measures: order count, pizza quantity, revenue, average daily sales, and revenue percentage.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400" dirty="0"/>
              <a:t>Data is analyzed by pizza type, pizza size, category, date, and hour of the day.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400" dirty="0"/>
              <a:t>SQL code and query results will be added separately.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E16E8C-AE91-1C37-731A-A6DD530C52D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06723"/>
                </a:solidFill>
              </a:defRPr>
            </a:pPr>
            <a:endParaRPr lang="en-IN" sz="6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E38CF5-F5CA-337F-5A79-CDB39C664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408" y="638175"/>
            <a:ext cx="4057650" cy="5581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B4E4EB-FA63-AB01-B68F-78EB808D4E40}"/>
              </a:ext>
            </a:extLst>
          </p:cNvPr>
          <p:cNvSpPr txBox="1"/>
          <p:nvPr/>
        </p:nvSpPr>
        <p:spPr>
          <a:xfrm>
            <a:off x="1312034" y="2767280"/>
            <a:ext cx="59487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>
                <a:solidFill>
                  <a:schemeClr val="accent6">
                    <a:lumMod val="75000"/>
                  </a:schemeClr>
                </a:solidFill>
              </a:rPr>
              <a:t>Basic Queries</a:t>
            </a:r>
          </a:p>
        </p:txBody>
      </p:sp>
    </p:spTree>
    <p:extLst>
      <p:ext uri="{BB962C8B-B14F-4D97-AF65-F5344CB8AC3E}">
        <p14:creationId xmlns:p14="http://schemas.microsoft.com/office/powerpoint/2010/main" val="3000541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C54644-A257-7150-58C2-EE3776D5B5C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06723"/>
                </a:solidFill>
              </a:defRPr>
            </a:pP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7C115A-7F94-E0F2-8A26-210C7AD47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819" y="1528961"/>
            <a:ext cx="5580898" cy="40807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908121-040E-4514-50DE-5ECBBF106093}"/>
              </a:ext>
            </a:extLst>
          </p:cNvPr>
          <p:cNvSpPr txBox="1"/>
          <p:nvPr/>
        </p:nvSpPr>
        <p:spPr>
          <a:xfrm>
            <a:off x="1092626" y="579120"/>
            <a:ext cx="75107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rPr lang="en-US" sz="3200" b="1" dirty="0"/>
              <a:t>Create Database &amp; Tables</a:t>
            </a:r>
            <a:endParaRPr sz="32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04CB50-0950-84E7-7F12-0B40FC9EE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316" y="920061"/>
            <a:ext cx="5017878" cy="501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545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8047" y="812857"/>
            <a:ext cx="85853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rPr sz="3200" b="1" dirty="0"/>
              <a:t>Retrieve the total number of orders placed.</a:t>
            </a:r>
          </a:p>
        </p:txBody>
      </p:sp>
      <p:pic>
        <p:nvPicPr>
          <p:cNvPr id="5" name="Picture 4" descr="pizza_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28600"/>
            <a:ext cx="1051560" cy="701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501C95-3AAF-20C8-3DE5-F737C5CFB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7" y="1925938"/>
            <a:ext cx="6997853" cy="18776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6B1EA0-C94B-61A7-B3DE-B3C430BD3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717" y="4046838"/>
            <a:ext cx="5963384" cy="15925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AB766A-C950-00F4-3B80-FDECD0375C4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zza_decor.png">
            <a:extLst>
              <a:ext uri="{FF2B5EF4-FFF2-40B4-BE49-F238E27FC236}">
                <a16:creationId xmlns:a16="http://schemas.microsoft.com/office/drawing/2014/main" id="{0CB68516-2537-86A8-3F43-012567F06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778" y="152400"/>
            <a:ext cx="1569720" cy="1046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EF21C1-3876-A6B2-B1F0-8EA146381637}"/>
              </a:ext>
            </a:extLst>
          </p:cNvPr>
          <p:cNvSpPr txBox="1"/>
          <p:nvPr/>
        </p:nvSpPr>
        <p:spPr>
          <a:xfrm>
            <a:off x="838047" y="812857"/>
            <a:ext cx="105792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rPr lang="en-US" sz="3200" b="1" dirty="0"/>
              <a:t>Calculate the total revenue generated from pizza sales.</a:t>
            </a:r>
            <a:endParaRPr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C78150-02E2-0077-5597-B3B94DA84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7" y="1860468"/>
            <a:ext cx="9817253" cy="24844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AFA654-9064-9B02-68D7-A6DF3C3D9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4881" y="4541094"/>
            <a:ext cx="5010419" cy="141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3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0B7B13-0614-F2F1-443E-2C055A8C1F6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zza_decor.png">
            <a:extLst>
              <a:ext uri="{FF2B5EF4-FFF2-40B4-BE49-F238E27FC236}">
                <a16:creationId xmlns:a16="http://schemas.microsoft.com/office/drawing/2014/main" id="{14E0386B-28B8-3BBB-3A09-F7C47AA18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640" y="276917"/>
            <a:ext cx="1607820" cy="10718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F0913B-24B0-814C-207A-41D9764E93C5}"/>
              </a:ext>
            </a:extLst>
          </p:cNvPr>
          <p:cNvSpPr txBox="1"/>
          <p:nvPr/>
        </p:nvSpPr>
        <p:spPr>
          <a:xfrm>
            <a:off x="806220" y="520469"/>
            <a:ext cx="105792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rPr lang="en-US" sz="3200" b="1" dirty="0"/>
              <a:t>Identify the highest-priced pizza.</a:t>
            </a:r>
            <a:endParaRPr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E00722-FDC9-D520-CE37-2E22CC753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20" y="1479914"/>
            <a:ext cx="8490180" cy="30174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B81669-0AE3-A2E5-ED24-235415244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207" y="4872000"/>
            <a:ext cx="6046343" cy="125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07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2B5361-1C1D-0A9D-77CB-5F9CCFEF7BD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zza_decor.png">
            <a:extLst>
              <a:ext uri="{FF2B5EF4-FFF2-40B4-BE49-F238E27FC236}">
                <a16:creationId xmlns:a16="http://schemas.microsoft.com/office/drawing/2014/main" id="{8AC415E7-58FC-4B11-F6D0-C81CB1B2C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2840" y="235007"/>
            <a:ext cx="1733550" cy="1155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EF447D-5EA0-8BF5-498C-3CC22F1F5372}"/>
              </a:ext>
            </a:extLst>
          </p:cNvPr>
          <p:cNvSpPr txBox="1"/>
          <p:nvPr/>
        </p:nvSpPr>
        <p:spPr>
          <a:xfrm>
            <a:off x="838047" y="626567"/>
            <a:ext cx="80519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rPr lang="en-US" sz="3200" b="1" dirty="0"/>
              <a:t>Identify the most common pizza size ordered. </a:t>
            </a:r>
            <a:endParaRPr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755F3C-D6E6-2611-82B3-98EE9837E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7" y="1508001"/>
            <a:ext cx="7748948" cy="26199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F77B84-A17A-BA4F-DFA2-7158000AA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424" y="4312483"/>
            <a:ext cx="3636191" cy="207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56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D8EBAE-F49C-E60C-9409-542A3FA285D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zza_decor.png">
            <a:extLst>
              <a:ext uri="{FF2B5EF4-FFF2-40B4-BE49-F238E27FC236}">
                <a16:creationId xmlns:a16="http://schemas.microsoft.com/office/drawing/2014/main" id="{1EEEEA42-574C-8E23-86AA-7D76F9318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23" y="5352103"/>
            <a:ext cx="1143000" cy="76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AED702-8EFA-DF66-06B1-DD94504C3835}"/>
              </a:ext>
            </a:extLst>
          </p:cNvPr>
          <p:cNvSpPr txBox="1"/>
          <p:nvPr/>
        </p:nvSpPr>
        <p:spPr>
          <a:xfrm>
            <a:off x="647470" y="611594"/>
            <a:ext cx="95665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rPr lang="en-US" sz="3200" b="1" dirty="0"/>
              <a:t>List the top 5 most ordered pizza types along with their quantities.</a:t>
            </a:r>
            <a:endParaRPr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4F6503-9412-31B7-AA44-45454A86B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70" y="2162327"/>
            <a:ext cx="6642634" cy="38561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C30460-E845-2A0C-AE8F-559FB8EB8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794" y="3146776"/>
            <a:ext cx="3866429" cy="188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43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156E19-6F99-6751-6DBC-05469201FF3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zza_decor.png">
            <a:extLst>
              <a:ext uri="{FF2B5EF4-FFF2-40B4-BE49-F238E27FC236}">
                <a16:creationId xmlns:a16="http://schemas.microsoft.com/office/drawing/2014/main" id="{731356D3-1697-CED6-C004-8220BCBFB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1" y="5918368"/>
            <a:ext cx="1112832" cy="7418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D77E31-46CC-8C1F-D789-4ACAC9197EC7}"/>
              </a:ext>
            </a:extLst>
          </p:cNvPr>
          <p:cNvSpPr txBox="1"/>
          <p:nvPr/>
        </p:nvSpPr>
        <p:spPr>
          <a:xfrm>
            <a:off x="838048" y="735037"/>
            <a:ext cx="997911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rPr lang="en-US" sz="3200" b="1" dirty="0"/>
              <a:t>Join the necessary tables to find the total quantity of each pizza category ordered.</a:t>
            </a:r>
            <a:endParaRPr sz="3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201398-D681-743D-E969-8BD0FE838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7" y="2158653"/>
            <a:ext cx="6765911" cy="34239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E08C70-444B-E186-F281-65EC0D02F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183" y="2842107"/>
            <a:ext cx="3767022" cy="205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4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E36037-7D37-B819-AD45-85398CC2D0E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zza_decor.png">
            <a:extLst>
              <a:ext uri="{FF2B5EF4-FFF2-40B4-BE49-F238E27FC236}">
                <a16:creationId xmlns:a16="http://schemas.microsoft.com/office/drawing/2014/main" id="{284F2B0A-C925-7A03-C7CD-544D2DE68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74" y="399773"/>
            <a:ext cx="1200858" cy="8005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DE5A08-4DB2-8FB7-A9B3-B9D9BF024D0A}"/>
              </a:ext>
            </a:extLst>
          </p:cNvPr>
          <p:cNvSpPr txBox="1"/>
          <p:nvPr/>
        </p:nvSpPr>
        <p:spPr>
          <a:xfrm>
            <a:off x="967870" y="800059"/>
            <a:ext cx="105792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rPr lang="en-US" sz="3200" b="1" dirty="0"/>
              <a:t>Determine the distribution of orders by hour of the day.</a:t>
            </a:r>
            <a:endParaRPr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696F7D-F1F8-3A36-4150-E443C99CA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779" y="2237298"/>
            <a:ext cx="7967344" cy="32141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47D936-6BE9-9294-33E2-8B05CF7C1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74" y="1785870"/>
            <a:ext cx="2644847" cy="458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811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7EF31-5CAD-7551-F3D5-1A236217C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86DC45-FC0C-7A07-FF96-11A390250FE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zza_decor.png">
            <a:extLst>
              <a:ext uri="{FF2B5EF4-FFF2-40B4-BE49-F238E27FC236}">
                <a16:creationId xmlns:a16="http://schemas.microsoft.com/office/drawing/2014/main" id="{71033700-69D7-D5CD-6D14-D14CBA51E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643" y="200846"/>
            <a:ext cx="1150620" cy="7670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0CE503-E5E8-1B3D-64C9-2BFDC7AFA613}"/>
              </a:ext>
            </a:extLst>
          </p:cNvPr>
          <p:cNvSpPr txBox="1"/>
          <p:nvPr/>
        </p:nvSpPr>
        <p:spPr>
          <a:xfrm>
            <a:off x="838047" y="812857"/>
            <a:ext cx="105792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rPr lang="en-US" sz="3200" b="1" dirty="0"/>
              <a:t>Join relevant tables to find the category-wise distribution of pizzas.</a:t>
            </a:r>
            <a:endParaRPr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AC4C3E-C544-A28E-AE7E-FE80C7CE0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6" y="2502086"/>
            <a:ext cx="5257953" cy="26609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8168E1-5168-693D-8DBC-101CFCA5A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045" y="3637270"/>
            <a:ext cx="4225443" cy="236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19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9D7E5-F203-6208-F9B9-F4E1E96C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6081EB-14B7-30F4-C60A-A4BABC3A749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zza_decor.png">
            <a:extLst>
              <a:ext uri="{FF2B5EF4-FFF2-40B4-BE49-F238E27FC236}">
                <a16:creationId xmlns:a16="http://schemas.microsoft.com/office/drawing/2014/main" id="{5CA01383-686F-509C-4FF2-A51F1F533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52" y="329281"/>
            <a:ext cx="1150621" cy="7670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C3A92D-04CB-C270-0D95-2F8353B5D7BC}"/>
              </a:ext>
            </a:extLst>
          </p:cNvPr>
          <p:cNvSpPr txBox="1"/>
          <p:nvPr/>
        </p:nvSpPr>
        <p:spPr>
          <a:xfrm>
            <a:off x="1396847" y="712821"/>
            <a:ext cx="100458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rPr lang="en-US" sz="3200" b="1" dirty="0"/>
              <a:t>Group the orders by date and calculate the average number of pizzas ordered per day.</a:t>
            </a:r>
            <a:endParaRPr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539F58-5F91-36F9-F683-FFA117BA6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381786"/>
            <a:ext cx="6642100" cy="30284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801B9C-BD75-C6C3-C546-12B12BB0B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62" y="3133710"/>
            <a:ext cx="3270318" cy="150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69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24647C-AA08-3CC6-A406-E55E4EE5F6C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zza_decor.png">
            <a:extLst>
              <a:ext uri="{FF2B5EF4-FFF2-40B4-BE49-F238E27FC236}">
                <a16:creationId xmlns:a16="http://schemas.microsoft.com/office/drawing/2014/main" id="{6A68E278-9074-5F71-3F35-25595D9F1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7240" y="5966282"/>
            <a:ext cx="1036320" cy="6908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98DE0D-B774-18D9-F7E9-030E25498764}"/>
              </a:ext>
            </a:extLst>
          </p:cNvPr>
          <p:cNvSpPr txBox="1"/>
          <p:nvPr/>
        </p:nvSpPr>
        <p:spPr>
          <a:xfrm>
            <a:off x="514120" y="680145"/>
            <a:ext cx="111634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rPr lang="en-US" sz="3200" b="1" dirty="0"/>
              <a:t>Determine the top 3 most ordered pizza types based on revenue.</a:t>
            </a:r>
            <a:endParaRPr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7C024A-5718-01B2-74A7-A57639EC8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20" y="1554124"/>
            <a:ext cx="6521680" cy="3856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B10BC2-EA8E-FFC1-2162-18D7D7787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244" y="2649900"/>
            <a:ext cx="4225329" cy="179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336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D9FE1-E5B6-AF10-3E3D-2D6FB305C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9FEE22-9B2B-90F6-DE43-AF5E43077F1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zza_decor.png">
            <a:extLst>
              <a:ext uri="{FF2B5EF4-FFF2-40B4-BE49-F238E27FC236}">
                <a16:creationId xmlns:a16="http://schemas.microsoft.com/office/drawing/2014/main" id="{85B4916E-635B-D707-A161-8E1F6CB5C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425" y="429761"/>
            <a:ext cx="1245870" cy="8305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602DEB-DC4D-28FF-0BBF-D867CDED66DE}"/>
              </a:ext>
            </a:extLst>
          </p:cNvPr>
          <p:cNvSpPr txBox="1"/>
          <p:nvPr/>
        </p:nvSpPr>
        <p:spPr>
          <a:xfrm>
            <a:off x="660247" y="533457"/>
            <a:ext cx="100839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rPr lang="en-US" sz="3200" b="1" dirty="0"/>
              <a:t>Calculate the percentage contribution of each pizza type to total revenue.</a:t>
            </a:r>
            <a:endParaRPr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32DF0E-351E-FC42-1D21-220D9C2D2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352" y="3153894"/>
            <a:ext cx="2828973" cy="21289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2D909D-3FF9-3CDC-55C7-59A3A1724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47" y="1832686"/>
            <a:ext cx="7632853" cy="44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340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57D2-A987-F41A-4920-8CA3600DC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FEAF9B-DCAE-E79D-59D6-7E31AC1E046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zza_decor.png">
            <a:extLst>
              <a:ext uri="{FF2B5EF4-FFF2-40B4-BE49-F238E27FC236}">
                <a16:creationId xmlns:a16="http://schemas.microsoft.com/office/drawing/2014/main" id="{08D0B1DE-CF62-075E-EB39-4AF17361A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190" y="5485477"/>
            <a:ext cx="1279118" cy="8527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4E5D1C-3E8F-D548-AA16-BC52B97C058E}"/>
              </a:ext>
            </a:extLst>
          </p:cNvPr>
          <p:cNvSpPr txBox="1"/>
          <p:nvPr/>
        </p:nvSpPr>
        <p:spPr>
          <a:xfrm>
            <a:off x="694055" y="812857"/>
            <a:ext cx="105792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rPr lang="en-US" sz="3200" b="1" dirty="0"/>
              <a:t>Analyze the cumulative revenue generated over time.</a:t>
            </a:r>
            <a:endParaRPr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E7159E-03EF-E111-0EED-F06192CF9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55" y="1771587"/>
            <a:ext cx="5895864" cy="3498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39AE6D-F4C6-72D1-2355-BE8C1B487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578" y="2501852"/>
            <a:ext cx="4176730" cy="246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53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3CC333-47F8-56E8-C073-461016E7796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zza_decor.png">
            <a:extLst>
              <a:ext uri="{FF2B5EF4-FFF2-40B4-BE49-F238E27FC236}">
                <a16:creationId xmlns:a16="http://schemas.microsoft.com/office/drawing/2014/main" id="{05334ED1-DDBA-EE03-0053-18811AC68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2117" y="407303"/>
            <a:ext cx="1216660" cy="811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D67F1B-4D01-D3D4-0B91-477242CF3595}"/>
              </a:ext>
            </a:extLst>
          </p:cNvPr>
          <p:cNvSpPr txBox="1"/>
          <p:nvPr/>
        </p:nvSpPr>
        <p:spPr>
          <a:xfrm>
            <a:off x="838046" y="501735"/>
            <a:ext cx="96013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</a:defRPr>
            </a:pPr>
            <a:r>
              <a:rPr lang="en-US" sz="3200" b="1" dirty="0"/>
              <a:t>Determine the top 3 most ordered pizza types based on revenue for each pizza category.</a:t>
            </a:r>
            <a:endParaRPr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699C2D-9B54-813A-5549-75F0F099D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6" y="1754704"/>
            <a:ext cx="6705753" cy="28873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6E14BE-FB22-3D4C-D51F-7490C297D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255" y="4817807"/>
            <a:ext cx="5677192" cy="171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541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482112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06723"/>
                </a:solidFill>
              </a:defRPr>
            </a:pPr>
            <a:r>
              <a:rPr sz="4400" dirty="0"/>
              <a:t>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8196580" cy="362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800" dirty="0"/>
              <a:t>Identify the most popular pizza products and sizes.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800" dirty="0"/>
              <a:t>Understand which categories generate the highest sales.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800" dirty="0"/>
              <a:t>Analyze peak ordering hours and daily demand.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800" dirty="0"/>
              <a:t>Measure revenue contribution and cumulative sales growth.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800" dirty="0"/>
              <a:t>Present data-driven insights using SQL query outputs.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ADC17F-5502-B6AD-04AF-AB4057D88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840" y="1657082"/>
            <a:ext cx="3141980" cy="31419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1860" y="408623"/>
            <a:ext cx="250741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06723"/>
                </a:solidFill>
              </a:defRPr>
            </a:pPr>
            <a:r>
              <a:rPr sz="4000" dirty="0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911340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800" dirty="0"/>
              <a:t>The Pizza Sales Analysis project demonstrates practical SQL and data analytics skills.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800" dirty="0"/>
              <a:t>It converts raw sales data into meaningful business insights.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800" dirty="0"/>
              <a:t>The project covers basic aggregation, table joins, time-based analysis, and advanced revenue analysis.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rPr sz="2800" dirty="0"/>
              <a:t>Query code and result screenshots can be added to the following sections of the presentation.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641527-BDE7-6CA1-0628-F8578C3EA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643" y="1417320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418</Words>
  <Application>Microsoft Office PowerPoint</Application>
  <PresentationFormat>Widescreen</PresentationFormat>
  <Paragraphs>41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kam</cp:lastModifiedBy>
  <cp:revision>6</cp:revision>
  <dcterms:created xsi:type="dcterms:W3CDTF">2013-01-27T09:14:16Z</dcterms:created>
  <dcterms:modified xsi:type="dcterms:W3CDTF">2026-09-23T07:32:13Z</dcterms:modified>
  <cp:category/>
</cp:coreProperties>
</file>